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00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C4953A"/>
                </a:solidFill>
                <a:latin typeface="Helvetica Neue"/>
                <a:ea typeface="PingFang SC"/>
              </a:rPr>
              <a:t>股票研究  ·  半导体  ·  英伟达 NVDA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2286000" cy="1905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 i="0">
                <a:solidFill>
                  <a:srgbClr val="001E3C"/>
                </a:solidFill>
                <a:latin typeface="Times New Roman"/>
                <a:ea typeface="Songti SC"/>
              </a:rPr>
              <a:t>{cover_title}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C5A"/>
                </a:solidFill>
                <a:latin typeface="Helvetica Neue"/>
                <a:ea typeface="PingFang SC"/>
              </a:rPr>
              <a:t>{cover_subtitle}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669280"/>
            <a:ext cx="103628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60">
                <a:solidFill>
                  <a:srgbClr val="404C5A"/>
                </a:solidFill>
                <a:latin typeface="Helvetica Neue"/>
                <a:ea typeface="PingFang SC"/>
              </a:rPr>
              <a:t>资深股票研究  ·  FY2026 投资展望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806440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404C5A"/>
                </a:solidFill>
                <a:latin typeface="Helvetica Neue"/>
                <a:ea typeface="PingFang SC"/>
              </a:rPr>
              <a:t>仅供机构投资者及合格交易对手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免责声明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02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00  ·  重要披露事项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001E3C"/>
                </a:solidFill>
                <a:latin typeface="Times New Roman"/>
                <a:ea typeface="Songti SC"/>
              </a:rPr>
              <a:t>免责声明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41B29"/>
                </a:solidFill>
                <a:latin typeface="Helvetica Neue"/>
                <a:ea typeface="PingFang SC"/>
              </a:rPr>
              <a:t>{disclaimer_body}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03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报告目录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001E3C"/>
                </a:solidFill>
                <a:latin typeface="Times New Roman"/>
                <a:ea typeface="Songti SC"/>
              </a:rPr>
              <a:t>目录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679192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606040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执行摘要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8036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投资视图核心结论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834640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18104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191256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118104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关键业绩指标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92424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FY25 财务快照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346704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3016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3703320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363016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投资逻辑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0448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我们看好的三大支柱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858768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42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215384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142232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市场格局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416552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万亿级 AI 资本开支周期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370832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5429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4727448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654296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竞争定位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928616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AMD · TPU · Trainium · 国产 GPU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4882896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6636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5239512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5166360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风险因素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44068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监管 · 竞争 · 估值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5394960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78424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4953A"/>
                </a:solidFill>
                <a:latin typeface="Times New Roman"/>
                <a:ea typeface="Songti SC"/>
              </a:rPr>
              <a:t>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5751576"/>
            <a:ext cx="18288" cy="320040"/>
          </a:xfrm>
          <a:prstGeom prst="rect">
            <a:avLst/>
          </a:prstGeom>
          <a:solidFill>
            <a:srgbClr val="40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5880" y="5678424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1E3C"/>
                </a:solidFill>
                <a:latin typeface="Helvetica Neue"/>
                <a:ea typeface="PingFang SC"/>
              </a:rPr>
              <a:t>投资建议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952744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8293"/>
                </a:solidFill>
                <a:latin typeface="Helvetica Neue"/>
                <a:ea typeface="PingFang SC"/>
              </a:rPr>
              <a:t>评级 · 目标价 · 上行空间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5907024"/>
            <a:ext cx="3657600" cy="5080"/>
          </a:xfrm>
          <a:prstGeom prst="rect">
            <a:avLst/>
          </a:prstGeom>
          <a:solidFill>
            <a:srgbClr val="CF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548640"/>
            <a:ext cx="54864" cy="5760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C4953A"/>
                </a:solidFill>
                <a:latin typeface="Helvetica Neue"/>
                <a:ea typeface="PingFang SC"/>
              </a:rPr>
              <a:t>全球投资研究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371600" cy="1524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11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0" b="0" i="0">
                <a:solidFill>
                  <a:srgbClr val="C4953A"/>
                </a:solidFill>
                <a:latin typeface="Times New Roman"/>
                <a:ea typeface="Songti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37744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C4953A"/>
                </a:solidFill>
                <a:latin typeface="Helvetica Neue"/>
                <a:ea typeface="PingFang SC"/>
              </a:rPr>
              <a:t>第一篇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8892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001E3C"/>
                </a:solidFill>
                <a:latin typeface="Times New Roman"/>
                <a:ea typeface="Songti SC"/>
              </a:rPr>
              <a:t>执行视图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114800"/>
            <a:ext cx="2286000" cy="190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3434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404C5A"/>
                </a:solidFill>
                <a:latin typeface="Helvetica Neue"/>
                <a:ea typeface="PingFang SC"/>
              </a:rPr>
              <a:t>投资视图：核心结论 · KPI 快照 · 评级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C4953A"/>
                </a:solidFill>
                <a:latin typeface="Helvetica Neue"/>
                <a:ea typeface="PingFang SC"/>
              </a:rPr>
              <a:t>英伟达 · 股票研究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04 页 / 共 14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01 · 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05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01  ·  执行视图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001E3C"/>
                </a:solidFill>
                <a:latin typeface="Times New Roman"/>
                <a:ea typeface="Songti SC"/>
              </a:rPr>
              <a:t>执行摘要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594360" cy="100584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C4953A"/>
                </a:solidFill>
                <a:latin typeface="Times New Roman"/>
                <a:ea typeface="Songti SC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788920"/>
            <a:ext cx="36576" cy="914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41B29"/>
                </a:solidFill>
                <a:latin typeface="Helvetica Neue"/>
                <a:ea typeface="PingFang SC"/>
              </a:rPr>
              <a:t>{es_b1}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94360" cy="100584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C4953A"/>
                </a:solidFill>
                <a:latin typeface="Times New Roman"/>
                <a:ea typeface="Songti SC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069080"/>
            <a:ext cx="36576" cy="914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41B29"/>
                </a:solidFill>
                <a:latin typeface="Helvetica Neue"/>
                <a:ea typeface="PingFang SC"/>
              </a:rPr>
              <a:t>{es_b2}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594360" cy="100584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C4953A"/>
                </a:solidFill>
                <a:latin typeface="Times New Roman"/>
                <a:ea typeface="Songti SC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5349240"/>
            <a:ext cx="36576" cy="914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5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41B29"/>
                </a:solidFill>
                <a:latin typeface="Helvetica Neue"/>
                <a:ea typeface="PingFang SC"/>
              </a:rPr>
              <a:t>{es_b3}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02 · 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06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02  ·  财务快照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001E3C"/>
                </a:solidFill>
                <a:latin typeface="Times New Roman"/>
                <a:ea typeface="Songti SC"/>
              </a:rPr>
              <a:t>关键业绩指标 — FY25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5440680" cy="1783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73152" cy="178308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80">
                <a:solidFill>
                  <a:srgbClr val="404C5A"/>
                </a:solidFill>
                <a:latin typeface="Helvetica Neue"/>
                <a:ea typeface="PingFang SC"/>
              </a:rPr>
              <a:t>FY2025 总营收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71800"/>
            <a:ext cx="914400" cy="317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39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001E3C"/>
                </a:solidFill>
                <a:latin typeface="Times New Roman"/>
                <a:ea typeface="Songti SC"/>
              </a:rPr>
              <a:t>{kpi1_value}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A8293"/>
                </a:solidFill>
                <a:latin typeface="Helvetica Neue"/>
                <a:ea typeface="PingFang SC"/>
              </a:rPr>
              <a:t>5 年 CAGR ≈ 64.4%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2560320"/>
            <a:ext cx="5440680" cy="1783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2560320"/>
            <a:ext cx="73152" cy="178308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6517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80">
                <a:solidFill>
                  <a:srgbClr val="404C5A"/>
                </a:solidFill>
                <a:latin typeface="Helvetica Neue"/>
                <a:ea typeface="PingFang SC"/>
              </a:rPr>
              <a:t>数据中心占比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971800"/>
            <a:ext cx="914400" cy="317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063239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001E3C"/>
                </a:solidFill>
                <a:latin typeface="Times New Roman"/>
                <a:ea typeface="Songti SC"/>
              </a:rPr>
              <a:t>{kpi2_value}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977639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A8293"/>
                </a:solidFill>
                <a:latin typeface="Helvetica Neue"/>
                <a:ea typeface="PingFang SC"/>
              </a:rPr>
              <a:t>FY2020 仅 27% → FY2025 88%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5440680" cy="1783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36008"/>
            <a:ext cx="73152" cy="178308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2744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80">
                <a:solidFill>
                  <a:srgbClr val="404C5A"/>
                </a:solidFill>
                <a:latin typeface="Helvetica Neue"/>
                <a:ea typeface="PingFang SC"/>
              </a:rPr>
              <a:t>数据中心毛利率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47488"/>
            <a:ext cx="914400" cy="317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38928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001E3C"/>
                </a:solidFill>
                <a:latin typeface="Times New Roman"/>
                <a:ea typeface="Songti SC"/>
              </a:rPr>
              <a:t>{kpi3_value}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5332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A8293"/>
                </a:solidFill>
                <a:latin typeface="Helvetica Neue"/>
                <a:ea typeface="PingFang SC"/>
              </a:rPr>
              <a:t>业内最高之一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4636008"/>
            <a:ext cx="5440680" cy="17830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4636008"/>
            <a:ext cx="73152" cy="178308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72744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80">
                <a:solidFill>
                  <a:srgbClr val="404C5A"/>
                </a:solidFill>
                <a:latin typeface="Helvetica Neue"/>
                <a:ea typeface="PingFang SC"/>
              </a:rPr>
              <a:t>2025E 超大规模厂商 Capex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0528" y="5047488"/>
            <a:ext cx="914400" cy="317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5138928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001E3C"/>
                </a:solidFill>
                <a:latin typeface="Times New Roman"/>
                <a:ea typeface="Songti SC"/>
              </a:rPr>
              <a:t>{kpi4_value}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605332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A8293"/>
                </a:solidFill>
                <a:latin typeface="Helvetica Neue"/>
                <a:ea typeface="PingFang SC"/>
              </a:rPr>
              <a:t>微软 + Meta + 谷歌 + 亚马逊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548640"/>
            <a:ext cx="54864" cy="5760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C4953A"/>
                </a:solidFill>
                <a:latin typeface="Helvetica Neue"/>
                <a:ea typeface="PingFang SC"/>
              </a:rPr>
              <a:t>全球投资研究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371600" cy="1524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11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0" b="0" i="0">
                <a:solidFill>
                  <a:srgbClr val="C4953A"/>
                </a:solidFill>
                <a:latin typeface="Times New Roman"/>
                <a:ea typeface="Songti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37744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C4953A"/>
                </a:solidFill>
                <a:latin typeface="Helvetica Neue"/>
                <a:ea typeface="PingFang SC"/>
              </a:rPr>
              <a:t>第二篇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8892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001E3C"/>
                </a:solidFill>
                <a:latin typeface="Times New Roman"/>
                <a:ea typeface="Songti SC"/>
              </a:rPr>
              <a:t>投资逻辑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114800"/>
            <a:ext cx="2286000" cy="190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3434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404C5A"/>
                </a:solidFill>
                <a:latin typeface="Helvetica Neue"/>
                <a:ea typeface="PingFang SC"/>
              </a:rPr>
              <a:t>投资论点 · 市场格局 · 竞争护城河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C4953A"/>
                </a:solidFill>
                <a:latin typeface="Helvetica Neue"/>
                <a:ea typeface="PingFang SC"/>
              </a:rPr>
              <a:t>英伟达 · 股票研究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07 页 / 共 14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03 · 投资逻辑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08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03  ·  投资论点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001E3C"/>
                </a:solidFill>
                <a:latin typeface="Times New Roman"/>
                <a:ea typeface="Songti SC"/>
              </a:rPr>
              <a:t>投资逻辑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77295" cy="77724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789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C4953A"/>
                </a:solidFill>
                <a:latin typeface="Times New Roman"/>
                <a:ea typeface="Songti SC"/>
              </a:rPr>
              <a:t>{th_lead}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3657600" cy="26974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3657600" cy="45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C4953A"/>
                </a:solidFill>
                <a:latin typeface="Helvetica Neue"/>
                <a:ea typeface="PingFang SC"/>
              </a:rPr>
              <a:t>支柱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B29"/>
                </a:solidFill>
                <a:latin typeface="Helvetica Neue"/>
                <a:ea typeface="PingFang SC"/>
              </a:rPr>
              <a:t>{th_b1}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3520440"/>
            <a:ext cx="3657600" cy="26974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0248" y="3520440"/>
            <a:ext cx="3657600" cy="45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749039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C4953A"/>
                </a:solidFill>
                <a:latin typeface="Helvetica Neue"/>
                <a:ea typeface="PingFang SC"/>
              </a:rPr>
              <a:t>支柱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20624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B29"/>
                </a:solidFill>
                <a:latin typeface="Helvetica Neue"/>
                <a:ea typeface="PingFang SC"/>
              </a:rPr>
              <a:t>{th_b2}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3520440"/>
            <a:ext cx="3657600" cy="269748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3520440"/>
            <a:ext cx="3657600" cy="45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749039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C4953A"/>
                </a:solidFill>
                <a:latin typeface="Helvetica Neue"/>
                <a:ea typeface="PingFang SC"/>
              </a:rPr>
              <a:t>支柱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20624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B29"/>
                </a:solidFill>
                <a:latin typeface="Helvetica Neue"/>
                <a:ea typeface="PingFang SC"/>
              </a:rPr>
              <a:t>{th_b3}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04 · 市场格局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09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04  ·  市场格局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01E3C"/>
                </a:solidFill>
                <a:latin typeface="Times New Roman"/>
                <a:ea typeface="Songti SC"/>
              </a:rPr>
              <a:t>万亿级 AI 资本开支周期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77295" cy="77724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789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C4953A"/>
                </a:solidFill>
                <a:latin typeface="Times New Roman"/>
                <a:ea typeface="Songti SC"/>
              </a:rPr>
              <a:t>{mk_lead}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36576" cy="1188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1E3C"/>
                </a:solidFill>
                <a:latin typeface="Times New Roman"/>
                <a:ea typeface="Songti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3931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41B29"/>
                </a:solidFill>
                <a:latin typeface="Helvetica Neue"/>
                <a:ea typeface="PingFang SC"/>
              </a:rPr>
              <a:t>{mk_b1}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36576" cy="1188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1E3C"/>
                </a:solidFill>
                <a:latin typeface="Times New Roman"/>
                <a:ea typeface="Songti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5663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41B29"/>
                </a:solidFill>
                <a:latin typeface="Helvetica Neue"/>
                <a:ea typeface="PingFang SC"/>
              </a:rPr>
              <a:t>{mk_b2}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05 · 竞争定位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10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05  ·  竞争格局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01E3C"/>
                </a:solidFill>
                <a:latin typeface="Times New Roman"/>
                <a:ea typeface="Songti SC"/>
              </a:rPr>
              <a:t>护城河评估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14600"/>
          <a:ext cx="1127729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6979615"/>
              </a:tblGrid>
              <a:tr h="868680"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竞争对手</a:t>
                      </a:r>
                    </a:p>
                  </a:txBody>
                  <a:tcPr>
                    <a:solidFill>
                      <a:srgbClr val="001E3C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SF Mono"/>
                          <a:ea typeface="PingFang SC"/>
                        </a:rPr>
                        <a:t>FY25 收入</a:t>
                      </a:r>
                    </a:p>
                  </a:txBody>
                  <a:tcPr>
                    <a:solidFill>
                      <a:srgbClr val="001E3C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威胁评估</a:t>
                      </a:r>
                    </a:p>
                  </a:txBody>
                  <a:tcPr>
                    <a:solidFill>
                      <a:srgbClr val="001E3C"/>
                    </a:solidFill>
                  </a:tcPr>
                </a:tc>
              </a:tr>
              <a:tr h="868680"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1E3C"/>
                          </a:solidFill>
                          <a:latin typeface="Helvetica Neue"/>
                          <a:ea typeface="PingFang SC"/>
                        </a:rPr>
                        <a:t>AMD Instinct  ·  MI300X / MI350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B29"/>
                          </a:solidFill>
                          <a:latin typeface="SF Mono"/>
                          <a:ea typeface="PingFang SC"/>
                        </a:rPr>
                        <a:t>~$5.0B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B29"/>
                          </a:solidFill>
                          <a:latin typeface="Helvetica Neue"/>
                          <a:ea typeface="PingFang SC"/>
                        </a:rPr>
                        <a:t>{cp_r1}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1E3C"/>
                          </a:solidFill>
                          <a:latin typeface="Helvetica Neue"/>
                          <a:ea typeface="PingFang SC"/>
                        </a:rPr>
                        <a:t>谷歌 TPU v5/v6  ·  AWS Trainium2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B29"/>
                          </a:solidFill>
                          <a:latin typeface="SF Mono"/>
                          <a:ea typeface="PingFang SC"/>
                        </a:rPr>
                        <a:t>仅自用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B29"/>
                          </a:solidFill>
                          <a:latin typeface="Helvetica Neue"/>
                          <a:ea typeface="PingFang SC"/>
                        </a:rPr>
                        <a:t>{cp_r2}</a:t>
                      </a:r>
                    </a:p>
                  </a:txBody>
                  <a:tcPr>
                    <a:solidFill>
                      <a:srgbClr val="F5F2EA"/>
                    </a:solidFill>
                  </a:tcPr>
                </a:tc>
              </a:tr>
              <a:tr h="868680"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01E3C"/>
                          </a:solidFill>
                          <a:latin typeface="Helvetica Neue"/>
                          <a:ea typeface="PingFang SC"/>
                        </a:rPr>
                        <a:t>华为昇腾 910C  ·  寒武纪  ·  摩尔线程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B29"/>
                          </a:solidFill>
                          <a:latin typeface="SF Mono"/>
                          <a:ea typeface="PingFang SC"/>
                        </a:rPr>
                        <a:t>仅中国市场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73152" bIns="73152"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B29"/>
                          </a:solidFill>
                          <a:latin typeface="Helvetica Neue"/>
                          <a:ea typeface="PingFang SC"/>
                        </a:rPr>
                        <a:t>{cp_r3}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7A8293"/>
                </a:solidFill>
                <a:latin typeface="Helvetica Neue"/>
                <a:ea typeface="PingFang SC"/>
              </a:rPr>
              <a:t>来源：公司财报、彭博、股票研究测算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548640"/>
            <a:ext cx="54864" cy="5760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C4953A"/>
                </a:solidFill>
                <a:latin typeface="Helvetica Neue"/>
                <a:ea typeface="PingFang SC"/>
              </a:rPr>
              <a:t>全球投资研究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371600" cy="1524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11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0" b="0" i="0">
                <a:solidFill>
                  <a:srgbClr val="C4953A"/>
                </a:solidFill>
                <a:latin typeface="Times New Roman"/>
                <a:ea typeface="Songti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37744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C4953A"/>
                </a:solidFill>
                <a:latin typeface="Helvetica Neue"/>
                <a:ea typeface="PingFang SC"/>
              </a:rPr>
              <a:t>第三篇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8892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001E3C"/>
                </a:solidFill>
                <a:latin typeface="Times New Roman"/>
                <a:ea typeface="Songti SC"/>
              </a:rPr>
              <a:t>风险与建议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114800"/>
            <a:ext cx="2286000" cy="190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3434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404C5A"/>
                </a:solidFill>
                <a:latin typeface="Helvetica Neue"/>
                <a:ea typeface="PingFang SC"/>
              </a:rPr>
              <a:t>下行风险 · 评级 · 目标价 · 上行空间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C4953A"/>
                </a:solidFill>
                <a:latin typeface="Helvetica Neue"/>
                <a:ea typeface="PingFang SC"/>
              </a:rPr>
              <a:t>英伟达 · 股票研究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11 页 / 共 14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06 · 风险因素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12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06  ·  风险因素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01E3C"/>
                </a:solidFill>
                <a:latin typeface="Times New Roman"/>
                <a:ea typeface="Songti SC"/>
              </a:rPr>
              <a:t>投资逻辑的关键风险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8E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1280160" cy="1143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240">
                <a:solidFill>
                  <a:srgbClr val="C4953A"/>
                </a:solidFill>
                <a:latin typeface="Helvetica Neue"/>
                <a:ea typeface="PingFang SC"/>
              </a:rPr>
              <a:t>R-01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08960"/>
            <a:ext cx="1005840" cy="27432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60">
                <a:solidFill>
                  <a:srgbClr val="FFFFFF"/>
                </a:solidFill>
                <a:latin typeface="Helvetica Neue"/>
                <a:ea typeface="PingFang SC"/>
              </a:rPr>
              <a:t>监管风险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606040"/>
            <a:ext cx="36576" cy="1143000"/>
          </a:xfrm>
          <a:prstGeom prst="rect">
            <a:avLst/>
          </a:prstGeom>
          <a:solidFill>
            <a:srgbClr val="8E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6974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B29"/>
                </a:solidFill>
                <a:latin typeface="Helvetica Neue"/>
                <a:ea typeface="PingFang SC"/>
              </a:rPr>
              <a:t>{rk_b1}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04487"/>
            <a:ext cx="1280160" cy="1143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4164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240">
                <a:solidFill>
                  <a:srgbClr val="C4953A"/>
                </a:solidFill>
                <a:latin typeface="Helvetica Neue"/>
                <a:ea typeface="PingFang SC"/>
              </a:rPr>
              <a:t>R-02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407407"/>
            <a:ext cx="1005840" cy="27432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9884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60">
                <a:solidFill>
                  <a:srgbClr val="FFFFFF"/>
                </a:solidFill>
                <a:latin typeface="Helvetica Neue"/>
                <a:ea typeface="PingFang SC"/>
              </a:rPr>
              <a:t>竞争风险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904487"/>
            <a:ext cx="36576" cy="1143000"/>
          </a:xfrm>
          <a:prstGeom prst="rect">
            <a:avLst/>
          </a:prstGeom>
          <a:solidFill>
            <a:srgbClr val="8E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3995927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B29"/>
                </a:solidFill>
                <a:latin typeface="Helvetica Neue"/>
                <a:ea typeface="PingFang SC"/>
              </a:rPr>
              <a:t>{rk_b2}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02936"/>
            <a:ext cx="1280160" cy="11430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400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 spc="240">
                <a:solidFill>
                  <a:srgbClr val="C4953A"/>
                </a:solidFill>
                <a:latin typeface="Helvetica Neue"/>
                <a:ea typeface="PingFang SC"/>
              </a:rPr>
              <a:t>R-03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705855"/>
            <a:ext cx="1005840" cy="27432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797296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 spc="60">
                <a:solidFill>
                  <a:srgbClr val="FFFFFF"/>
                </a:solidFill>
                <a:latin typeface="Helvetica Neue"/>
                <a:ea typeface="PingFang SC"/>
              </a:rPr>
              <a:t>估值风险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202936"/>
            <a:ext cx="36576" cy="1143000"/>
          </a:xfrm>
          <a:prstGeom prst="rect">
            <a:avLst/>
          </a:prstGeom>
          <a:solidFill>
            <a:srgbClr val="8E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5294375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1B29"/>
                </a:solidFill>
                <a:latin typeface="Helvetica Neue"/>
                <a:ea typeface="PingFang SC"/>
              </a:rPr>
              <a:t>{rk_b3}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6">
                <a:solidFill>
                  <a:srgbClr val="001E3C"/>
                </a:solidFill>
                <a:latin typeface="Helvetica Neue"/>
                <a:ea typeface="PingFang SC"/>
              </a:rPr>
              <a:t>全球投资研究  /  股票研究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74320"/>
            <a:ext cx="39620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66">
                <a:solidFill>
                  <a:srgbClr val="C4953A"/>
                </a:solidFill>
                <a:latin typeface="Helvetica Neue"/>
                <a:ea typeface="PingFang SC"/>
              </a:rPr>
              <a:t>07 · 投资建议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"/>
            <a:ext cx="11277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60">
                <a:solidFill>
                  <a:srgbClr val="7A8293"/>
                </a:solidFill>
                <a:latin typeface="Helvetica Neue"/>
                <a:ea typeface="PingFang SC"/>
              </a:rPr>
              <a:t>英伟达  /  美国  /  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218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 spc="60">
                <a:solidFill>
                  <a:srgbClr val="C4953A"/>
                </a:solidFill>
                <a:latin typeface="Helvetica Neue"/>
                <a:ea typeface="PingFang SC"/>
              </a:rPr>
              <a:t>第 13 页 / 共 14 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50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66">
                <a:solidFill>
                  <a:srgbClr val="C4953A"/>
                </a:solidFill>
                <a:latin typeface="Helvetica Neue"/>
                <a:ea typeface="PingFang SC"/>
              </a:rPr>
              <a:t>07  ·  投资建议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01E3C"/>
                </a:solidFill>
                <a:latin typeface="Times New Roman"/>
                <a:ea typeface="Songti SC"/>
              </a:rPr>
              <a:t>评级 · 目标价 · 上行空间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3840480" cy="384048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91440" cy="384048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C4953A"/>
                </a:solidFill>
                <a:latin typeface="Helvetica Neue"/>
                <a:ea typeface="PingFang SC"/>
              </a:rPr>
              <a:t>评级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731520" cy="190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611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0" i="0">
                <a:solidFill>
                  <a:srgbClr val="C4953A"/>
                </a:solidFill>
                <a:latin typeface="Times New Roman"/>
                <a:ea typeface="Songti SC"/>
              </a:rPr>
              <a:t>{rec_action}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80">
                <a:solidFill>
                  <a:srgbClr val="F5F2EA"/>
                </a:solidFill>
                <a:latin typeface="Helvetica Neue"/>
                <a:ea typeface="PingFang SC"/>
              </a:rPr>
              <a:t>12 个月目标价 (USD)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</a:rPr>
              <a:t>{rec_target}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423160"/>
            <a:ext cx="7162495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423160"/>
            <a:ext cx="7162495" cy="45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6060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C4953A"/>
                </a:solidFill>
                <a:latin typeface="Helvetica Neue"/>
                <a:ea typeface="PingFang SC"/>
              </a:rPr>
              <a:t>目标价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971800"/>
            <a:ext cx="9144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10896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001E3C"/>
                </a:solidFill>
                <a:latin typeface="Times New Roman"/>
                <a:ea typeface="Songti SC"/>
              </a:rPr>
              <a:t>{rec_target}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434840"/>
            <a:ext cx="7162495" cy="1828800"/>
          </a:xfrm>
          <a:prstGeom prst="rect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4434840"/>
            <a:ext cx="7162495" cy="457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6177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C4953A"/>
                </a:solidFill>
                <a:latin typeface="Helvetica Neue"/>
                <a:ea typeface="PingFang SC"/>
              </a:rPr>
              <a:t>隐含上行空间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983480"/>
            <a:ext cx="914400" cy="2540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512064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C4953A"/>
                </a:solidFill>
                <a:latin typeface="Times New Roman"/>
                <a:ea typeface="Songti SC"/>
              </a:rPr>
              <a:t>{rec_upside}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100">
                <a:solidFill>
                  <a:srgbClr val="C4953A"/>
                </a:solidFill>
                <a:latin typeface="Helvetica Neue"/>
                <a:ea typeface="PingFang SC"/>
              </a:rPr>
              <a:t>全球投资研究  /  股票研究报告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868680"/>
            <a:ext cx="2133295" cy="762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1874519"/>
            <a:ext cx="1218895" cy="54864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400" b="0" i="0" spc="66">
                <a:solidFill>
                  <a:srgbClr val="C4953A"/>
                </a:solidFill>
                <a:latin typeface="Times New Roman"/>
                <a:ea typeface="Songti SC"/>
              </a:rPr>
              <a:t>感　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4114800"/>
            <a:ext cx="1218895" cy="54864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1">
                <a:solidFill>
                  <a:srgbClr val="F5F2EA"/>
                </a:solidFill>
                <a:latin typeface="Times New Roman"/>
                <a:ea typeface="Songti SC"/>
              </a:rPr>
              <a:t>{closing_tagline}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852160"/>
            <a:ext cx="8534095" cy="6350"/>
          </a:xfrm>
          <a:prstGeom prst="rect">
            <a:avLst/>
          </a:prstGeom>
          <a:solidFill>
            <a:srgbClr val="C4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F5F2EA"/>
                </a:solidFill>
                <a:latin typeface="Helvetica Neue"/>
                <a:ea typeface="PingFang SC"/>
              </a:rPr>
              <a:t>本文档仅供机构投资者和合格交易对手使用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5F2EA"/>
                </a:solidFill>
                <a:latin typeface="Helvetica Neue"/>
                <a:ea typeface="PingFang SC"/>
              </a:rPr>
              <a:t>© 全球投资研究  ·  数据来源：公司财报与彭博一致预期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